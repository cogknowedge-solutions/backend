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27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787640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4.pn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23338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5120640"/>
            <a:ext cx="3657600" cy="3657600"/>
          </a:xfrm>
          <a:prstGeom prst="ellipse">
            <a:avLst/>
          </a:prstGeom>
          <a:solidFill>
            <a:srgbClr val="123338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48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FOR AI ENGINEERING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8595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Python into a real API</a:t>
            </a:r>
            <a:endParaRPr lang="en-US" sz="40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an AI application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2514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i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one lab at a time.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40080" y="3337560"/>
            <a:ext cx="2468880" cy="1371600"/>
          </a:xfrm>
          <a:prstGeom prst="roundRect">
            <a:avLst>
              <a:gd name="adj" fmla="val 6000"/>
            </a:avLst>
          </a:prstGeom>
          <a:solidFill>
            <a:srgbClr val="123338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3447288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640080" y="417880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CFE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labs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429000" y="3337560"/>
            <a:ext cx="2468880" cy="1371600"/>
          </a:xfrm>
          <a:prstGeom prst="roundRect">
            <a:avLst>
              <a:gd name="adj" fmla="val 6000"/>
            </a:avLst>
          </a:prstGeom>
          <a:solidFill>
            <a:srgbClr val="123338"/>
          </a:solidFill>
          <a:ln/>
        </p:spPr>
      </p:sp>
      <p:sp>
        <p:nvSpPr>
          <p:cNvPr id="11" name="Text 9"/>
          <p:cNvSpPr/>
          <p:nvPr/>
        </p:nvSpPr>
        <p:spPr>
          <a:xfrm>
            <a:off x="3429000" y="3447288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3429000" y="417880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CFE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17920" y="3337560"/>
            <a:ext cx="2468880" cy="1371600"/>
          </a:xfrm>
          <a:prstGeom prst="roundRect">
            <a:avLst>
              <a:gd name="adj" fmla="val 6000"/>
            </a:avLst>
          </a:prstGeom>
          <a:solidFill>
            <a:srgbClr val="123338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3447288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6217920" y="417880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CFE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Prerequisites needed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0080" y="4983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7FB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YOU'LL BUILD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5349240"/>
            <a:ext cx="502920" cy="502920"/>
          </a:xfrm>
          <a:prstGeom prst="ellipse">
            <a:avLst/>
          </a:prstGeom>
          <a:solidFill>
            <a:srgbClr val="123338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8" name="Image 0" descr="/home/claude/ppt/icons/comments_02C39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5468112"/>
            <a:ext cx="265176" cy="265176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548640" y="5916168"/>
            <a:ext cx="186430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950" dirty="0">
                <a:solidFill>
                  <a:srgbClr val="CFE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chat</a:t>
            </a:r>
            <a:endParaRPr lang="en-US" sz="9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950" dirty="0">
                <a:solidFill>
                  <a:srgbClr val="CFE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2486101" y="5349240"/>
            <a:ext cx="502920" cy="502920"/>
          </a:xfrm>
          <a:prstGeom prst="ellipse">
            <a:avLst/>
          </a:prstGeom>
          <a:solidFill>
            <a:srgbClr val="123338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21" name="Image 1" descr="/home/claude/ppt/icons/upload_02C39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4973" y="5468112"/>
            <a:ext cx="265176" cy="265176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2502745" y="5963288"/>
            <a:ext cx="110880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950" dirty="0">
                <a:solidFill>
                  <a:srgbClr val="CFE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</a:t>
            </a:r>
            <a:r>
              <a:rPr lang="en-US" sz="950" dirty="0"/>
              <a:t> </a:t>
            </a:r>
            <a:r>
              <a:rPr lang="en-US" sz="950" dirty="0">
                <a:solidFill>
                  <a:srgbClr val="CFE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uploads</a:t>
            </a:r>
            <a:endParaRPr lang="en-US" sz="950" dirty="0"/>
          </a:p>
        </p:txBody>
      </p:sp>
      <p:sp>
        <p:nvSpPr>
          <p:cNvPr id="23" name="Shape 19"/>
          <p:cNvSpPr/>
          <p:nvPr/>
        </p:nvSpPr>
        <p:spPr>
          <a:xfrm>
            <a:off x="4332122" y="5349240"/>
            <a:ext cx="502920" cy="502920"/>
          </a:xfrm>
          <a:prstGeom prst="ellipse">
            <a:avLst/>
          </a:prstGeom>
          <a:solidFill>
            <a:srgbClr val="123338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24" name="Image 2" descr="/home/claude/ppt/icons/tower_02C39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50994" y="5468112"/>
            <a:ext cx="265176" cy="265176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4240682" y="5916168"/>
            <a:ext cx="186430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950" dirty="0">
                <a:solidFill>
                  <a:srgbClr val="CFE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&amp;</a:t>
            </a:r>
            <a:endParaRPr lang="en-US" sz="9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950" dirty="0">
                <a:solidFill>
                  <a:srgbClr val="CFE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chat</a:t>
            </a:r>
            <a:endParaRPr lang="en-US" sz="950" dirty="0"/>
          </a:p>
        </p:txBody>
      </p:sp>
      <p:sp>
        <p:nvSpPr>
          <p:cNvPr id="26" name="Shape 21"/>
          <p:cNvSpPr/>
          <p:nvPr/>
        </p:nvSpPr>
        <p:spPr>
          <a:xfrm>
            <a:off x="6178144" y="5349240"/>
            <a:ext cx="502920" cy="502920"/>
          </a:xfrm>
          <a:prstGeom prst="ellipse">
            <a:avLst/>
          </a:prstGeom>
          <a:solidFill>
            <a:srgbClr val="123338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27" name="Image 3" descr="/home/claude/ppt/icons/shield_02C39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7016" y="5468112"/>
            <a:ext cx="265176" cy="265176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6217920" y="5942282"/>
            <a:ext cx="186430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950" dirty="0">
                <a:solidFill>
                  <a:srgbClr val="CFE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</a:t>
            </a:r>
            <a:endParaRPr lang="en-US" sz="9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950" dirty="0">
                <a:solidFill>
                  <a:srgbClr val="CFE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limits</a:t>
            </a:r>
            <a:endParaRPr lang="en-US" sz="950" dirty="0"/>
          </a:p>
        </p:txBody>
      </p:sp>
      <p:sp>
        <p:nvSpPr>
          <p:cNvPr id="29" name="Shape 23"/>
          <p:cNvSpPr/>
          <p:nvPr/>
        </p:nvSpPr>
        <p:spPr>
          <a:xfrm>
            <a:off x="8024165" y="5349240"/>
            <a:ext cx="502920" cy="502920"/>
          </a:xfrm>
          <a:prstGeom prst="ellipse">
            <a:avLst/>
          </a:prstGeom>
          <a:solidFill>
            <a:srgbClr val="123338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30" name="Image 4" descr="/home/claude/ppt/icons/tasks_02C39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43037" y="5468112"/>
            <a:ext cx="265176" cy="265176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8045653" y="5916168"/>
            <a:ext cx="186430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950" dirty="0">
                <a:solidFill>
                  <a:srgbClr val="CFE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9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950" dirty="0">
                <a:solidFill>
                  <a:srgbClr val="CFE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</a:t>
            </a:r>
            <a:endParaRPr lang="en-US" sz="950" dirty="0"/>
          </a:p>
        </p:txBody>
      </p:sp>
      <p:sp>
        <p:nvSpPr>
          <p:cNvPr id="32" name="Shape 25"/>
          <p:cNvSpPr/>
          <p:nvPr/>
        </p:nvSpPr>
        <p:spPr>
          <a:xfrm>
            <a:off x="9870186" y="5349240"/>
            <a:ext cx="502920" cy="502920"/>
          </a:xfrm>
          <a:prstGeom prst="ellipse">
            <a:avLst/>
          </a:prstGeom>
          <a:solidFill>
            <a:srgbClr val="123338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33" name="Image 5" descr="/home/claude/ppt/icons/flag_02C39A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89058" y="5468112"/>
            <a:ext cx="265176" cy="265176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9778746" y="5916168"/>
            <a:ext cx="186430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950" dirty="0">
                <a:solidFill>
                  <a:srgbClr val="CFE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 Project 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950" dirty="0">
                <a:solidFill>
                  <a:srgbClr val="CFE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+ 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950" dirty="0">
                <a:solidFill>
                  <a:srgbClr val="CFE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Capstone</a:t>
            </a:r>
            <a:endParaRPr lang="en-US" sz="950" dirty="0"/>
          </a:p>
        </p:txBody>
      </p:sp>
      <p:sp>
        <p:nvSpPr>
          <p:cNvPr id="35" name="Text 27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9C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→ Run → Build · No prerequisites</a:t>
            </a:r>
            <a:endParaRPr lang="en-US" sz="1000" dirty="0"/>
          </a:p>
        </p:txBody>
      </p:sp>
      <p:sp>
        <p:nvSpPr>
          <p:cNvPr id="36" name="Text 28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C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FASTAPI?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6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Python web framework for building real APIs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5212080" cy="1234440"/>
          </a:xfrm>
          <a:prstGeom prst="roundRect">
            <a:avLst>
              <a:gd name="adj" fmla="val 5926"/>
            </a:avLst>
          </a:prstGeom>
          <a:solidFill>
            <a:srgbClr val="F2F8F7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627632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6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API, in one line: </a:t>
            </a:r>
            <a:r>
              <a:rPr lang="en-US" sz="1300" dirty="0">
                <a:solidFill>
                  <a:srgbClr val="16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interface on your server — your app exposes URL endpoints, and other programs call them over HTTP to request data and get responses.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92608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</a:t>
            </a:r>
            <a:r>
              <a:rPr lang="en-US" sz="1350" dirty="0">
                <a:solidFill>
                  <a:srgbClr val="16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framework that handles the request/response plumbing for those APIs — so you focus on your app’s logic.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40080" y="3977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IT’S USED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4279392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16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 the most popular choices for AI backends — chat, uploads, streaming, real-time features, auth.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548640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0E2A2E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548640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lab in this series builds exactly those capabilities on top of FastAPI.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0" y="1508760"/>
            <a:ext cx="5120640" cy="3794760"/>
          </a:xfrm>
          <a:prstGeom prst="roundRect">
            <a:avLst>
              <a:gd name="adj" fmla="val 2410"/>
            </a:avLst>
          </a:prstGeom>
          <a:solidFill>
            <a:srgbClr val="F2F8F7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1691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REQUEST FLOWS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675120" y="2148840"/>
            <a:ext cx="502920" cy="5029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28090"/>
            </a:solidFill>
            <a:prstDash val="solid"/>
          </a:ln>
        </p:spPr>
      </p:sp>
      <p:pic>
        <p:nvPicPr>
          <p:cNvPr id="14" name="Image 0" descr="/home/claude/ppt/icons/route_02809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3992" y="2267712"/>
            <a:ext cx="265176" cy="265176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7315200" y="2093976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6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sends an HTTP request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7315200" y="2404872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GET, POST, etc. to a URL endpoint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926580" y="2651760"/>
            <a:ext cx="0" cy="338328"/>
          </a:xfrm>
          <a:prstGeom prst="line">
            <a:avLst/>
          </a:prstGeom>
          <a:noFill/>
          <a:ln w="19050">
            <a:solidFill>
              <a:srgbClr val="00A896"/>
            </a:solidFill>
            <a:prstDash val="dash"/>
          </a:ln>
        </p:spPr>
      </p:sp>
      <p:sp>
        <p:nvSpPr>
          <p:cNvPr id="18" name="Shape 15"/>
          <p:cNvSpPr/>
          <p:nvPr/>
        </p:nvSpPr>
        <p:spPr>
          <a:xfrm>
            <a:off x="6675120" y="2990088"/>
            <a:ext cx="502920" cy="5029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28090"/>
            </a:solidFill>
            <a:prstDash val="solid"/>
          </a:ln>
        </p:spPr>
      </p:sp>
      <p:pic>
        <p:nvPicPr>
          <p:cNvPr id="19" name="Image 1" descr="/home/claude/ppt/icons/server_02809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3992" y="3108960"/>
            <a:ext cx="265176" cy="265176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7315200" y="2935224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6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routes it</a:t>
            </a:r>
            <a:endParaRPr lang="en-US" sz="1350" dirty="0"/>
          </a:p>
        </p:txBody>
      </p:sp>
      <p:sp>
        <p:nvSpPr>
          <p:cNvPr id="21" name="Text 17"/>
          <p:cNvSpPr/>
          <p:nvPr/>
        </p:nvSpPr>
        <p:spPr>
          <a:xfrm>
            <a:off x="7315200" y="324612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the right Python function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6926580" y="3493008"/>
            <a:ext cx="0" cy="338328"/>
          </a:xfrm>
          <a:prstGeom prst="line">
            <a:avLst/>
          </a:prstGeom>
          <a:noFill/>
          <a:ln w="19050">
            <a:solidFill>
              <a:srgbClr val="00A896"/>
            </a:solidFill>
            <a:prstDash val="dash"/>
          </a:ln>
        </p:spPr>
      </p:sp>
      <p:sp>
        <p:nvSpPr>
          <p:cNvPr id="23" name="Shape 19"/>
          <p:cNvSpPr/>
          <p:nvPr/>
        </p:nvSpPr>
        <p:spPr>
          <a:xfrm>
            <a:off x="6675120" y="3831336"/>
            <a:ext cx="502920" cy="5029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28090"/>
            </a:solidFill>
            <a:prstDash val="solid"/>
          </a:ln>
        </p:spPr>
      </p:sp>
      <p:pic>
        <p:nvPicPr>
          <p:cNvPr id="24" name="Image 2" descr="/home/claude/ppt/icons/reply_02809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3992" y="3950208"/>
            <a:ext cx="265176" cy="265176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7315200" y="3776472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6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function runs</a:t>
            </a:r>
            <a:endParaRPr lang="en-US" sz="1350" dirty="0"/>
          </a:p>
        </p:txBody>
      </p:sp>
      <p:sp>
        <p:nvSpPr>
          <p:cNvPr id="26" name="Text 21"/>
          <p:cNvSpPr/>
          <p:nvPr/>
        </p:nvSpPr>
        <p:spPr>
          <a:xfrm>
            <a:off x="7315200" y="4087368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returns a response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6926580" y="4334256"/>
            <a:ext cx="0" cy="338328"/>
          </a:xfrm>
          <a:prstGeom prst="line">
            <a:avLst/>
          </a:prstGeom>
          <a:noFill/>
          <a:ln w="19050">
            <a:solidFill>
              <a:srgbClr val="00A896"/>
            </a:solidFill>
            <a:prstDash val="dash"/>
          </a:ln>
        </p:spPr>
      </p:sp>
      <p:sp>
        <p:nvSpPr>
          <p:cNvPr id="28" name="Shape 23"/>
          <p:cNvSpPr/>
          <p:nvPr/>
        </p:nvSpPr>
        <p:spPr>
          <a:xfrm>
            <a:off x="6675120" y="4672584"/>
            <a:ext cx="502920" cy="5029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28090"/>
            </a:solidFill>
            <a:prstDash val="solid"/>
          </a:ln>
        </p:spPr>
      </p:sp>
      <p:pic>
        <p:nvPicPr>
          <p:cNvPr id="29" name="Image 3" descr="/home/claude/ppt/icons/book2_02809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93992" y="4791456"/>
            <a:ext cx="265176" cy="265176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7315200" y="461772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6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Docs, for free</a:t>
            </a:r>
            <a:endParaRPr lang="en-US" sz="1350" dirty="0"/>
          </a:p>
        </p:txBody>
      </p:sp>
      <p:sp>
        <p:nvSpPr>
          <p:cNvPr id="31" name="Text 25"/>
          <p:cNvSpPr/>
          <p:nvPr/>
        </p:nvSpPr>
        <p:spPr>
          <a:xfrm>
            <a:off x="7315200" y="4928616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API docs at /docs</a:t>
            </a:r>
            <a:endParaRPr lang="en-US" sz="1100" dirty="0"/>
          </a:p>
        </p:txBody>
      </p:sp>
      <p:sp>
        <p:nvSpPr>
          <p:cNvPr id="33" name="Text 27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6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foundation, one new capability at a time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606040" cy="4160520"/>
          </a:xfrm>
          <a:prstGeom prst="roundRect">
            <a:avLst>
              <a:gd name="adj" fmla="val 3158"/>
            </a:avLst>
          </a:prstGeom>
          <a:solidFill>
            <a:srgbClr val="F2F8F7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947672"/>
            <a:ext cx="50292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</p:sp>
      <p:pic>
        <p:nvPicPr>
          <p:cNvPr id="6" name="Image 0" descr="/home/claude/ppt/icons/foundation_02809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2066544"/>
            <a:ext cx="265176" cy="2651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260604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16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Foundations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896112" y="3291840"/>
            <a:ext cx="21031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 algn="l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6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validation</a:t>
            </a:r>
            <a:endParaRPr lang="en-US" sz="1150" dirty="0"/>
          </a:p>
          <a:p>
            <a:pPr marL="152400" indent="-152400" algn="l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6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handling</a:t>
            </a:r>
            <a:endParaRPr lang="en-US" sz="1150" dirty="0"/>
          </a:p>
          <a:p>
            <a:pPr marL="152400" indent="-152400" algn="l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6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injection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218688" y="3671316"/>
            <a:ext cx="256032" cy="201168"/>
          </a:xfrm>
          <a:prstGeom prst="rightArrow">
            <a:avLst/>
          </a:prstGeom>
          <a:solidFill>
            <a:srgbClr val="5C6B6E"/>
          </a:solidFill>
          <a:ln/>
        </p:spPr>
      </p:sp>
      <p:sp>
        <p:nvSpPr>
          <p:cNvPr id="10" name="Shape 7"/>
          <p:cNvSpPr/>
          <p:nvPr/>
        </p:nvSpPr>
        <p:spPr>
          <a:xfrm>
            <a:off x="3447288" y="1691640"/>
            <a:ext cx="2606040" cy="4160520"/>
          </a:xfrm>
          <a:prstGeom prst="roundRect">
            <a:avLst>
              <a:gd name="adj" fmla="val 3158"/>
            </a:avLst>
          </a:prstGeom>
          <a:solidFill>
            <a:srgbClr val="F2F8F7"/>
          </a:solidFill>
          <a:ln/>
        </p:spPr>
      </p:sp>
      <p:sp>
        <p:nvSpPr>
          <p:cNvPr id="11" name="Shape 8"/>
          <p:cNvSpPr/>
          <p:nvPr/>
        </p:nvSpPr>
        <p:spPr>
          <a:xfrm>
            <a:off x="3675888" y="1947672"/>
            <a:ext cx="50292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A896"/>
            </a:solidFill>
            <a:prstDash val="solid"/>
          </a:ln>
        </p:spPr>
      </p:sp>
      <p:pic>
        <p:nvPicPr>
          <p:cNvPr id="12" name="Image 1" descr="/home/claude/ppt/icons/async_00A89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4760" y="2066544"/>
            <a:ext cx="265176" cy="26517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75888" y="260604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16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Async &amp; Real-time I/O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3703320" y="3291840"/>
            <a:ext cx="21031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 algn="l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6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/ await</a:t>
            </a:r>
            <a:endParaRPr lang="en-US" sz="1150" dirty="0"/>
          </a:p>
          <a:p>
            <a:pPr marL="152400" indent="-152400" algn="l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6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uploads</a:t>
            </a:r>
            <a:endParaRPr lang="en-US" sz="1150" dirty="0"/>
          </a:p>
          <a:p>
            <a:pPr marL="152400" indent="-152400" algn="l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6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responses</a:t>
            </a:r>
            <a:endParaRPr lang="en-US" sz="1150" dirty="0"/>
          </a:p>
          <a:p>
            <a:pPr marL="152400" indent="-152400" algn="l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6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WebSockets</a:t>
            </a:r>
            <a:endParaRPr lang="en-US" sz="1150" dirty="0"/>
          </a:p>
          <a:p>
            <a:pPr marL="152400" indent="-152400" algn="l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6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tasks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025896" y="3671316"/>
            <a:ext cx="256032" cy="201168"/>
          </a:xfrm>
          <a:prstGeom prst="rightArrow">
            <a:avLst/>
          </a:prstGeom>
          <a:solidFill>
            <a:srgbClr val="5C6B6E"/>
          </a:solidFill>
          <a:ln/>
        </p:spPr>
      </p:sp>
      <p:sp>
        <p:nvSpPr>
          <p:cNvPr id="16" name="Shape 12"/>
          <p:cNvSpPr/>
          <p:nvPr/>
        </p:nvSpPr>
        <p:spPr>
          <a:xfrm>
            <a:off x="6254496" y="1691640"/>
            <a:ext cx="2606040" cy="4160520"/>
          </a:xfrm>
          <a:prstGeom prst="roundRect">
            <a:avLst>
              <a:gd name="adj" fmla="val 3158"/>
            </a:avLst>
          </a:prstGeom>
          <a:solidFill>
            <a:srgbClr val="F2F8F7"/>
          </a:solidFill>
          <a:ln/>
        </p:spPr>
      </p:sp>
      <p:sp>
        <p:nvSpPr>
          <p:cNvPr id="17" name="Shape 13"/>
          <p:cNvSpPr/>
          <p:nvPr/>
        </p:nvSpPr>
        <p:spPr>
          <a:xfrm>
            <a:off x="6483096" y="1947672"/>
            <a:ext cx="50292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2C39A"/>
            </a:solidFill>
            <a:prstDash val="solid"/>
          </a:ln>
        </p:spPr>
      </p:sp>
      <p:pic>
        <p:nvPicPr>
          <p:cNvPr id="18" name="Image 2" descr="/home/claude/ppt/icons/prod_02C39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1968" y="2066544"/>
            <a:ext cx="265176" cy="26517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483096" y="260604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16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Production-grade APIs</a:t>
            </a:r>
            <a:endParaRPr lang="en-US" sz="1550" dirty="0"/>
          </a:p>
        </p:txBody>
      </p:sp>
      <p:sp>
        <p:nvSpPr>
          <p:cNvPr id="20" name="Text 15"/>
          <p:cNvSpPr/>
          <p:nvPr/>
        </p:nvSpPr>
        <p:spPr>
          <a:xfrm>
            <a:off x="6510528" y="3291840"/>
            <a:ext cx="21031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 algn="l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6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auth</a:t>
            </a:r>
            <a:endParaRPr lang="en-US" sz="1150" dirty="0"/>
          </a:p>
          <a:p>
            <a:pPr marL="152400" indent="-152400" algn="l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6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 + observability</a:t>
            </a:r>
            <a:endParaRPr lang="en-US" sz="1150" dirty="0"/>
          </a:p>
          <a:p>
            <a:pPr marL="152400" indent="-152400" algn="l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6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150" dirty="0"/>
          </a:p>
          <a:p>
            <a:pPr marL="152400" indent="-152400" algn="l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6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routing</a:t>
            </a:r>
            <a:endParaRPr lang="en-US" sz="1150" dirty="0"/>
          </a:p>
          <a:p>
            <a:pPr marL="152400" indent="-152400" algn="l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6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Lifespan events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8833104" y="3671316"/>
            <a:ext cx="256032" cy="201168"/>
          </a:xfrm>
          <a:prstGeom prst="rightArrow">
            <a:avLst/>
          </a:prstGeom>
          <a:solidFill>
            <a:srgbClr val="5C6B6E"/>
          </a:solidFill>
          <a:ln/>
        </p:spPr>
      </p:sp>
      <p:sp>
        <p:nvSpPr>
          <p:cNvPr id="22" name="Shape 17"/>
          <p:cNvSpPr/>
          <p:nvPr/>
        </p:nvSpPr>
        <p:spPr>
          <a:xfrm>
            <a:off x="9061704" y="1691640"/>
            <a:ext cx="2606040" cy="4160520"/>
          </a:xfrm>
          <a:prstGeom prst="roundRect">
            <a:avLst>
              <a:gd name="adj" fmla="val 3158"/>
            </a:avLst>
          </a:prstGeom>
          <a:solidFill>
            <a:srgbClr val="0E2A2E"/>
          </a:solidFill>
          <a:ln/>
        </p:spPr>
      </p:sp>
      <p:sp>
        <p:nvSpPr>
          <p:cNvPr id="23" name="Shape 18"/>
          <p:cNvSpPr/>
          <p:nvPr/>
        </p:nvSpPr>
        <p:spPr>
          <a:xfrm>
            <a:off x="9290304" y="1947672"/>
            <a:ext cx="50292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2C39A"/>
            </a:solidFill>
            <a:prstDash val="solid"/>
          </a:ln>
        </p:spPr>
      </p:sp>
      <p:pic>
        <p:nvPicPr>
          <p:cNvPr id="24" name="Image 3" descr="/home/claude/ppt/icons/synth_02C39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09176" y="2066544"/>
            <a:ext cx="265176" cy="26517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290304" y="260604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Synthesis</a:t>
            </a:r>
            <a:endParaRPr lang="en-US" sz="1550" dirty="0"/>
          </a:p>
        </p:txBody>
      </p:sp>
      <p:sp>
        <p:nvSpPr>
          <p:cNvPr id="26" name="Text 20"/>
          <p:cNvSpPr/>
          <p:nvPr/>
        </p:nvSpPr>
        <p:spPr>
          <a:xfrm>
            <a:off x="9317736" y="3291840"/>
            <a:ext cx="21031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 algn="l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E4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content platform</a:t>
            </a:r>
            <a:endParaRPr lang="en-US" sz="1150" dirty="0"/>
          </a:p>
          <a:p>
            <a:pPr marL="152400" indent="-152400" algn="l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E4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own capstone: tiered-access chat gateway</a:t>
            </a:r>
            <a:endParaRPr lang="en-US" sz="1150" dirty="0"/>
          </a:p>
        </p:txBody>
      </p:sp>
      <p:sp>
        <p:nvSpPr>
          <p:cNvPr id="28" name="Text 22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STRUCTURE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6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Anatomy of one lab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6949440" cy="795528"/>
          </a:xfrm>
          <a:prstGeom prst="roundRect">
            <a:avLst>
              <a:gd name="adj" fmla="val 9195"/>
            </a:avLst>
          </a:prstGeom>
          <a:solidFill>
            <a:srgbClr val="F2F8F7"/>
          </a:solidFill>
          <a:ln/>
        </p:spPr>
      </p:sp>
      <p:sp>
        <p:nvSpPr>
          <p:cNvPr id="5" name="Shape 3"/>
          <p:cNvSpPr/>
          <p:nvPr/>
        </p:nvSpPr>
        <p:spPr>
          <a:xfrm>
            <a:off x="841248" y="1879092"/>
            <a:ext cx="502920" cy="5029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28090"/>
            </a:solidFill>
            <a:prstDash val="solid"/>
          </a:ln>
        </p:spPr>
      </p:sp>
      <p:pic>
        <p:nvPicPr>
          <p:cNvPr id="6" name="Image 0" descr="/home/claude/ppt/icons/article_02809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1997964"/>
            <a:ext cx="265176" cy="2651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810512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6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Article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508760" y="2121408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 the concept and what you’ll build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40080" y="2697480"/>
            <a:ext cx="6949440" cy="795528"/>
          </a:xfrm>
          <a:prstGeom prst="roundRect">
            <a:avLst>
              <a:gd name="adj" fmla="val 9195"/>
            </a:avLst>
          </a:prstGeom>
          <a:solidFill>
            <a:srgbClr val="F2F8F7"/>
          </a:solidFill>
          <a:ln/>
        </p:spPr>
      </p:sp>
      <p:sp>
        <p:nvSpPr>
          <p:cNvPr id="10" name="Shape 7"/>
          <p:cNvSpPr/>
          <p:nvPr/>
        </p:nvSpPr>
        <p:spPr>
          <a:xfrm>
            <a:off x="841248" y="2839212"/>
            <a:ext cx="502920" cy="5029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28090"/>
            </a:solidFill>
            <a:prstDash val="solid"/>
          </a:ln>
        </p:spPr>
      </p:sp>
      <p:pic>
        <p:nvPicPr>
          <p:cNvPr id="11" name="Image 1" descr="/home/claude/ppt/icons/notebook_02809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2958084"/>
            <a:ext cx="265176" cy="26517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08760" y="2770632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6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Notebook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1508760" y="3081528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cell by cell — the first cell installs everything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40080" y="3657600"/>
            <a:ext cx="6949440" cy="795528"/>
          </a:xfrm>
          <a:prstGeom prst="roundRect">
            <a:avLst>
              <a:gd name="adj" fmla="val 9195"/>
            </a:avLst>
          </a:prstGeom>
          <a:solidFill>
            <a:srgbClr val="F2F8F7"/>
          </a:solidFill>
          <a:ln/>
        </p:spPr>
      </p:sp>
      <p:sp>
        <p:nvSpPr>
          <p:cNvPr id="15" name="Shape 11"/>
          <p:cNvSpPr/>
          <p:nvPr/>
        </p:nvSpPr>
        <p:spPr>
          <a:xfrm>
            <a:off x="841248" y="3799332"/>
            <a:ext cx="502920" cy="5029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28090"/>
            </a:solidFill>
            <a:prstDash val="solid"/>
          </a:ln>
        </p:spPr>
      </p:sp>
      <p:pic>
        <p:nvPicPr>
          <p:cNvPr id="16" name="Image 2" descr="/home/claude/ppt/icons/script_02809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3918204"/>
            <a:ext cx="265176" cy="26517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08760" y="3730752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6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Script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508760" y="4041648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code as a .py file, for running as a real server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40080" y="4617720"/>
            <a:ext cx="6949440" cy="795528"/>
          </a:xfrm>
          <a:prstGeom prst="roundRect">
            <a:avLst>
              <a:gd name="adj" fmla="val 9195"/>
            </a:avLst>
          </a:prstGeom>
          <a:solidFill>
            <a:srgbClr val="F2F8F7"/>
          </a:solidFill>
          <a:ln/>
        </p:spPr>
      </p:sp>
      <p:sp>
        <p:nvSpPr>
          <p:cNvPr id="20" name="Shape 15"/>
          <p:cNvSpPr/>
          <p:nvPr/>
        </p:nvSpPr>
        <p:spPr>
          <a:xfrm>
            <a:off x="841248" y="4759452"/>
            <a:ext cx="502920" cy="5029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28090"/>
            </a:solidFill>
            <a:prstDash val="solid"/>
          </a:ln>
        </p:spPr>
      </p:sp>
      <p:pic>
        <p:nvPicPr>
          <p:cNvPr id="21" name="Image 3" descr="/home/claude/ppt/icons/assignment_02809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0120" y="4878324"/>
            <a:ext cx="265176" cy="26517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08760" y="4690872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6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Assignment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1508760" y="5001768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simple, step-by-step coding task you implement yourself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8001000" y="1737360"/>
            <a:ext cx="3520440" cy="3675888"/>
          </a:xfrm>
          <a:prstGeom prst="roundRect">
            <a:avLst>
              <a:gd name="adj" fmla="val 2597"/>
            </a:avLst>
          </a:prstGeom>
          <a:solidFill>
            <a:srgbClr val="0E2A2E"/>
          </a:solidFill>
          <a:ln/>
        </p:spPr>
      </p:sp>
      <p:pic>
        <p:nvPicPr>
          <p:cNvPr id="25" name="Image 4" descr="/home/claude/ppt/icons/loop_02C39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41180" y="2057400"/>
            <a:ext cx="640080" cy="64008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8001000" y="278892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7FB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LOOP</a:t>
            </a:r>
            <a:endParaRPr lang="en-US" sz="1100" dirty="0"/>
          </a:p>
        </p:txBody>
      </p:sp>
      <p:sp>
        <p:nvSpPr>
          <p:cNvPr id="27" name="Text 20"/>
          <p:cNvSpPr/>
          <p:nvPr/>
        </p:nvSpPr>
        <p:spPr>
          <a:xfrm>
            <a:off x="8275320" y="3108960"/>
            <a:ext cx="2971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</a:t>
            </a:r>
            <a:endParaRPr lang="en-US" sz="1700" dirty="0"/>
          </a:p>
          <a:p>
            <a:pPr marL="0" indent="0" algn="ctr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</a:t>
            </a:r>
            <a:endParaRPr lang="en-US" sz="1700" dirty="0"/>
          </a:p>
          <a:p>
            <a:pPr marL="0" indent="0" algn="ctr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1700" dirty="0"/>
          </a:p>
          <a:p>
            <a:pPr marL="0" indent="0" algn="ctr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lab</a:t>
            </a:r>
            <a:endParaRPr lang="en-US" sz="1700" dirty="0"/>
          </a:p>
        </p:txBody>
      </p:sp>
      <p:sp>
        <p:nvSpPr>
          <p:cNvPr id="29" name="Text 22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THE LABS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6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run the labs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26187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the reference file — it covers everything, end to end.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5166360" cy="3566160"/>
          </a:xfrm>
          <a:prstGeom prst="roundRect">
            <a:avLst>
              <a:gd name="adj" fmla="val 2564"/>
            </a:avLst>
          </a:prstGeom>
          <a:solidFill>
            <a:srgbClr val="F2F8F7"/>
          </a:solidFill>
          <a:ln/>
        </p:spPr>
      </p:sp>
      <p:sp>
        <p:nvSpPr>
          <p:cNvPr id="6" name="Shape 4"/>
          <p:cNvSpPr/>
          <p:nvPr/>
        </p:nvSpPr>
        <p:spPr>
          <a:xfrm>
            <a:off x="960120" y="2148840"/>
            <a:ext cx="64008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</p:sp>
      <p:pic>
        <p:nvPicPr>
          <p:cNvPr id="7" name="Image 0" descr="/home/claude/ppt/icons/notebookpath_02809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424" y="2295144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83080" y="217627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PATH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1783080" y="242316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6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Notebook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005840" y="3063240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16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server needed. Run cells top to bottom straight in your browser.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005840" y="3977640"/>
            <a:ext cx="4434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 algn="l">
              <a:lnSpc>
                <a:spcPct val="110000"/>
              </a:lnSpc>
              <a:spcAft>
                <a:spcPts val="1000"/>
              </a:spcAft>
              <a:buSzPct val="100000"/>
              <a:buChar char="▸"/>
            </a:pPr>
            <a:r>
              <a:rPr lang="en-US" sz="1250" dirty="0">
                <a:solidFill>
                  <a:srgbClr val="16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Colab</a:t>
            </a:r>
            <a:endParaRPr lang="en-US" sz="1250" dirty="0"/>
          </a:p>
          <a:p>
            <a:pPr marL="177800" indent="-177800" algn="l">
              <a:lnSpc>
                <a:spcPct val="110000"/>
              </a:lnSpc>
              <a:spcAft>
                <a:spcPts val="1000"/>
              </a:spcAft>
              <a:buSzPct val="100000"/>
              <a:buChar char="▸"/>
            </a:pPr>
            <a:r>
              <a:rPr lang="en-US" sz="1250" dirty="0">
                <a:solidFill>
                  <a:srgbClr val="16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</a:t>
            </a:r>
            <a:endParaRPr lang="en-US" sz="1250" dirty="0"/>
          </a:p>
          <a:p>
            <a:pPr marL="177800" indent="-177800" algn="l">
              <a:lnSpc>
                <a:spcPct val="110000"/>
              </a:lnSpc>
              <a:spcAft>
                <a:spcPts val="1000"/>
              </a:spcAft>
              <a:buSzPct val="100000"/>
              <a:buChar char="▸"/>
            </a:pPr>
            <a:r>
              <a:rPr lang="en-US" sz="1250" dirty="0">
                <a:solidFill>
                  <a:srgbClr val="16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080760" y="1828800"/>
            <a:ext cx="5166360" cy="3566160"/>
          </a:xfrm>
          <a:prstGeom prst="roundRect">
            <a:avLst>
              <a:gd name="adj" fmla="val 2564"/>
            </a:avLst>
          </a:prstGeom>
          <a:solidFill>
            <a:srgbClr val="0E2A2E"/>
          </a:solidFill>
          <a:ln/>
        </p:spPr>
      </p:sp>
      <p:sp>
        <p:nvSpPr>
          <p:cNvPr id="13" name="Shape 10"/>
          <p:cNvSpPr/>
          <p:nvPr/>
        </p:nvSpPr>
        <p:spPr>
          <a:xfrm>
            <a:off x="6400800" y="2148840"/>
            <a:ext cx="640080" cy="640080"/>
          </a:xfrm>
          <a:prstGeom prst="ellipse">
            <a:avLst/>
          </a:prstGeom>
          <a:solidFill>
            <a:srgbClr val="123338"/>
          </a:solidFill>
          <a:ln w="19050">
            <a:solidFill>
              <a:srgbClr val="02C39A"/>
            </a:solidFill>
            <a:prstDash val="solid"/>
          </a:ln>
        </p:spPr>
      </p:sp>
      <p:pic>
        <p:nvPicPr>
          <p:cNvPr id="14" name="Image 1" descr="/home/claude/ppt/icons/serverpath_02C39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7104" y="2295144"/>
            <a:ext cx="347472" cy="34747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223760" y="217627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7FB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WANT IT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7223760" y="242316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Real Server</a:t>
            </a:r>
            <a:endParaRPr lang="en-US" sz="2000" dirty="0"/>
          </a:p>
        </p:txBody>
      </p:sp>
      <p:sp>
        <p:nvSpPr>
          <p:cNvPr id="17" name="Text 13"/>
          <p:cNvSpPr/>
          <p:nvPr/>
        </p:nvSpPr>
        <p:spPr>
          <a:xfrm>
            <a:off x="6446520" y="3063240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CFE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code as a .py file, run with Uvicorn as a live server.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6446520" y="3977640"/>
            <a:ext cx="4434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 algn="l">
              <a:lnSpc>
                <a:spcPct val="110000"/>
              </a:lnSpc>
              <a:spcAft>
                <a:spcPts val="1000"/>
              </a:spcAft>
              <a:buSzPct val="100000"/>
              <a:buChar char="▸"/>
            </a:pPr>
            <a:r>
              <a:rPr lang="en-US" sz="1250" dirty="0">
                <a:solidFill>
                  <a:srgbClr val="E4F3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uvicorn main:app --reload</a:t>
            </a:r>
            <a:endParaRPr lang="en-US" sz="1250" dirty="0"/>
          </a:p>
          <a:p>
            <a:pPr marL="177800" indent="-177800" algn="l">
              <a:lnSpc>
                <a:spcPct val="110000"/>
              </a:lnSpc>
              <a:spcAft>
                <a:spcPts val="1000"/>
              </a:spcAft>
              <a:buSzPct val="100000"/>
              <a:buChar char="▸"/>
            </a:pPr>
            <a:r>
              <a:rPr lang="en-US" sz="1250" dirty="0">
                <a:solidFill>
                  <a:srgbClr val="E4F3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 via the /docs page</a:t>
            </a:r>
            <a:endParaRPr lang="en-US" sz="1250" dirty="0"/>
          </a:p>
        </p:txBody>
      </p:sp>
      <p:sp>
        <p:nvSpPr>
          <p:cNvPr id="20" name="Text 16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2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-1645920"/>
            <a:ext cx="4572000" cy="4572000"/>
          </a:xfrm>
          <a:prstGeom prst="ellipse">
            <a:avLst/>
          </a:prstGeom>
          <a:solidFill>
            <a:srgbClr val="123338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937760"/>
            <a:ext cx="3291840" cy="3291840"/>
          </a:xfrm>
          <a:prstGeom prst="ellipse">
            <a:avLst/>
          </a:prstGeom>
          <a:solidFill>
            <a:srgbClr val="123338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82296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Labs aren’t a rigid ladder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9FD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lab states what it assumes — several can be done in a different order.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161288" y="2496312"/>
            <a:ext cx="0" cy="2880360"/>
          </a:xfrm>
          <a:prstGeom prst="line">
            <a:avLst/>
          </a:prstGeom>
          <a:noFill/>
          <a:ln w="38100">
            <a:solidFill>
              <a:srgbClr val="12333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05256" y="2240280"/>
            <a:ext cx="512064" cy="512064"/>
          </a:xfrm>
          <a:prstGeom prst="ellipse">
            <a:avLst/>
          </a:prstGeom>
          <a:solidFill>
            <a:srgbClr val="123338"/>
          </a:solidFill>
          <a:ln w="19050">
            <a:solidFill>
              <a:srgbClr val="02C39A"/>
            </a:solidFill>
            <a:prstDash val="solid"/>
          </a:ln>
        </p:spPr>
      </p:sp>
      <p:pic>
        <p:nvPicPr>
          <p:cNvPr id="9" name="Image 0" descr="/home/claude/ppt/icons/compass_02C39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2363724"/>
            <a:ext cx="265176" cy="26517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664208" y="2185416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Skim the reference file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1664208" y="2532888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9FD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oriented on how the labs run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905256" y="3200400"/>
            <a:ext cx="512064" cy="512064"/>
          </a:xfrm>
          <a:prstGeom prst="ellipse">
            <a:avLst/>
          </a:prstGeom>
          <a:solidFill>
            <a:srgbClr val="123338"/>
          </a:solidFill>
          <a:ln w="19050">
            <a:solidFill>
              <a:srgbClr val="02C39A"/>
            </a:solidFill>
            <a:prstDash val="solid"/>
          </a:ln>
        </p:spPr>
      </p:sp>
      <p:pic>
        <p:nvPicPr>
          <p:cNvPr id="13" name="Image 1" descr="/home/claude/ppt/icons/play_02C39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128" y="3323844"/>
            <a:ext cx="265176" cy="26517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664208" y="3145536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Lab 1</a:t>
            </a:r>
            <a:endParaRPr lang="en-US" sz="1550" dirty="0"/>
          </a:p>
        </p:txBody>
      </p:sp>
      <p:sp>
        <p:nvSpPr>
          <p:cNvPr id="15" name="Text 11"/>
          <p:cNvSpPr/>
          <p:nvPr/>
        </p:nvSpPr>
        <p:spPr>
          <a:xfrm>
            <a:off x="1664208" y="3493008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9FD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validation — your foundation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905256" y="4160520"/>
            <a:ext cx="512064" cy="512064"/>
          </a:xfrm>
          <a:prstGeom prst="ellipse">
            <a:avLst/>
          </a:prstGeom>
          <a:solidFill>
            <a:srgbClr val="123338"/>
          </a:solidFill>
          <a:ln w="19050">
            <a:solidFill>
              <a:srgbClr val="02C39A"/>
            </a:solidFill>
            <a:prstDash val="solid"/>
          </a:ln>
        </p:spPr>
      </p:sp>
      <p:pic>
        <p:nvPicPr>
          <p:cNvPr id="17" name="Image 2" descr="/home/claude/ppt/icons/stairs_02C39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4128" y="4283964"/>
            <a:ext cx="265176" cy="26517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664208" y="4105656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Continue with the lighter early labs</a:t>
            </a:r>
            <a:endParaRPr lang="en-US" sz="1550" dirty="0"/>
          </a:p>
        </p:txBody>
      </p:sp>
      <p:sp>
        <p:nvSpPr>
          <p:cNvPr id="19" name="Text 14"/>
          <p:cNvSpPr/>
          <p:nvPr/>
        </p:nvSpPr>
        <p:spPr>
          <a:xfrm>
            <a:off x="1664208" y="4453128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9FD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handling, dependency injection — before the heavier async &amp; file-upload lab that follows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905256" y="5120640"/>
            <a:ext cx="512064" cy="512064"/>
          </a:xfrm>
          <a:prstGeom prst="ellipse">
            <a:avLst/>
          </a:prstGeom>
          <a:solidFill>
            <a:srgbClr val="123338"/>
          </a:solidFill>
          <a:ln w="19050">
            <a:solidFill>
              <a:srgbClr val="02C39A"/>
            </a:solidFill>
            <a:prstDash val="solid"/>
          </a:ln>
        </p:spPr>
      </p:sp>
      <p:pic>
        <p:nvPicPr>
          <p:cNvPr id="21" name="Image 3" descr="/home/claude/ppt/icons/finish_02C39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4128" y="5244084"/>
            <a:ext cx="265176" cy="26517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64208" y="5065776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Finish with the platform, then your capstone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1664208" y="5413248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9FD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 project, then design your own capstone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640080" y="6172200"/>
            <a:ext cx="10881360" cy="91"/>
          </a:xfrm>
          <a:prstGeom prst="roundRect">
            <a:avLst/>
          </a:prstGeom>
          <a:ln/>
        </p:spPr>
      </p:sp>
      <p:sp>
        <p:nvSpPr>
          <p:cNvPr id="26" name="Text 20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C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499</Words>
  <Application>Microsoft Office PowerPoint</Application>
  <PresentationFormat>Widescreen</PresentationFormat>
  <Paragraphs>113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FastAPI for AI Engineering — Lab Series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FastAPI for AI Engineering</dc:creator>
  <cp:lastModifiedBy>Rohit Bangar</cp:lastModifiedBy>
  <cp:revision>3</cp:revision>
  <dcterms:created xsi:type="dcterms:W3CDTF">2026-09-21T10:13:59Z</dcterms:created>
  <dcterms:modified xsi:type="dcterms:W3CDTF">2026-09-21T12:56:56Z</dcterms:modified>
</cp:coreProperties>
</file>